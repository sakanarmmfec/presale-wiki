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0" r:id="rId29"/>
    <p:sldId id="277" r:id="rId28"/>
    <p:sldId id="278" r:id="rId7"/>
  </p:sldIdLst>
  <p:sldSz cx="12192000" cy="6858000" type="screen4x3"/>
  <p:notesSz cx="6858000" cy="9144000"/>
  <p:embeddedFontLst>
    <p:embeddedFont>
      <p:font typeface="DM Sans" pitchFamily="2" charset="0"/>
      <p:regular r:id="rId11"/>
      <p:bold r:id="rId8"/>
      <p:italic r:id="rId10"/>
      <p:boldItalic r:id="rId9"/>
    </p:embeddedFont>
    <p:embeddedFont>
      <p:font typeface="Space Grotesk" pitchFamily="2" charset="0"/>
      <p:regular r:id="rId13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40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2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61.png"/><Relationship Id="rId24" Type="http://schemas.openxmlformats.org/officeDocument/2006/relationships/image" Target="../media/image62.png"/><Relationship Id="rId25" Type="http://schemas.openxmlformats.org/officeDocument/2006/relationships/image" Target="../media/image63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5.png"/><Relationship Id="rId4" Type="http://schemas.openxmlformats.org/officeDocument/2006/relationships/image" Target="../media/image1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18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66.png"/><Relationship Id="rId10" Type="http://schemas.openxmlformats.org/officeDocument/2006/relationships/image" Target="../media/image98.png"/><Relationship Id="rId11" Type="http://schemas.openxmlformats.org/officeDocument/2006/relationships/image" Target="../media/image68.png"/><Relationship Id="rId12" Type="http://schemas.openxmlformats.org/officeDocument/2006/relationships/image" Target="../media/image99.png"/><Relationship Id="rId13" Type="http://schemas.openxmlformats.org/officeDocument/2006/relationships/image" Target="../media/image70.png"/><Relationship Id="rId14" Type="http://schemas.openxmlformats.org/officeDocument/2006/relationships/image" Target="../media/image100.png"/><Relationship Id="rId15" Type="http://schemas.openxmlformats.org/officeDocument/2006/relationships/image" Target="../media/image72.png"/><Relationship Id="rId16" Type="http://schemas.openxmlformats.org/officeDocument/2006/relationships/image" Target="../media/image101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52500" y="-952500"/>
            <a:ext cx="5715000" cy="571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5969" y="2369939"/>
            <a:ext cx="76453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&lt;research&gt;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31697" y="2644229"/>
            <a:ext cx="208880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const workflow = "enhanced";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3732" y="2918519"/>
            <a:ext cx="128676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while(analyzing)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5356" y="3192809"/>
            <a:ext cx="138514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claude.reason(data);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0535" y="3467100"/>
            <a:ext cx="2099964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notebookLM.ground(sources);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10948" y="3741390"/>
            <a:ext cx="140955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synthesize(insights);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38198" y="4015680"/>
            <a:ext cx="8230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344" y="4289970"/>
            <a:ext cx="81215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&lt;/research&gt;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904875"/>
            <a:ext cx="1143000" cy="76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333875"/>
            <a:ext cx="10668000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1069032"/>
            <a:ext cx="4802683" cy="1333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5" b="1" i="0">
                <a:solidFill>
                  <a:srgbClr val="FFFFFF"/>
                </a:solidFill>
                <a:latin typeface="Space Grotesk"/>
              </a:rP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013644"/>
            <a:ext cx="6849367" cy="1333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5" b="1" i="0">
                <a:solidFill>
                  <a:srgbClr val="FFFFFF"/>
                </a:solidFill>
                <a:latin typeface="Space Grotesk"/>
              </a:rPr>
              <a:t>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958256"/>
            <a:ext cx="6442174" cy="1333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5" b="1" i="0">
                <a:solidFill>
                  <a:srgbClr val="FFFFFF"/>
                </a:solidFill>
                <a:latin typeface="Space Grotesk"/>
              </a:rPr>
              <a:t>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4331493"/>
            <a:ext cx="8552110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FCA5A5"/>
                </a:solidFill>
                <a:latin typeface="Space Grotesk"/>
              </a:rPr>
              <a:t>สิ่งที่วางแผนต่อยอด | Planned Enhancements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334000"/>
            <a:ext cx="3867150" cy="6191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275" y="5543550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9875" y="5543550"/>
            <a:ext cx="190500" cy="2000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62075" y="5531643"/>
            <a:ext cx="106397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DM Sans"/>
              </a:rPr>
              <a:t>Presale Wiki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1847" y="5531643"/>
            <a:ext cx="1219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DM Sans"/>
              </a:rPr>
              <a:t>Roadmap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184" y="6324600"/>
            <a:ext cx="1829990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DM Sans"/>
              </a:rPr>
              <a:t xml:space="preserve">PRESALE WIKI </a:t>
            </a:r>
            <a:r>
              <a:rPr sz="1050" b="1" i="0">
                <a:solidFill>
                  <a:srgbClr val="FFFFFF"/>
                </a:solidFill>
                <a:latin typeface="DM Sans"/>
              </a:rPr>
              <a:t>• MFEC PRESALE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52500" y="-952500"/>
            <a:ext cx="5715000" cy="571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5969" y="2369939"/>
            <a:ext cx="76453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&lt;research&gt;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31697" y="2644229"/>
            <a:ext cx="208880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const workflow = "enhanced";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3732" y="2918519"/>
            <a:ext cx="128676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while(analyzing)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5356" y="3192809"/>
            <a:ext cx="138514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claude.reason(data);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0535" y="3467100"/>
            <a:ext cx="2099964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notebookLM.ground(sources);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10948" y="3741390"/>
            <a:ext cx="140955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synthesize(insights);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38198" y="4015680"/>
            <a:ext cx="8230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344" y="4289970"/>
            <a:ext cx="81215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>
                    <a:alpha val="15000"/>
                  </a:srgbClr>
                </a:solidFill>
                <a:latin typeface="DM Sans"/>
              </a:rPr>
              <a:t>&lt;/research&gt;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904875"/>
            <a:ext cx="1143000" cy="76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333875"/>
            <a:ext cx="10668000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1069032"/>
            <a:ext cx="4802683" cy="1333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5" b="1" i="0">
                <a:solidFill>
                  <a:srgbClr val="FFFFFF"/>
                </a:solidFill>
                <a:latin typeface="Space Grotesk"/>
              </a:rPr>
              <a:t>PRESALE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013644"/>
            <a:ext cx="6849367" cy="1333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5" b="1" i="0">
                <a:solidFill>
                  <a:srgbClr val="FFFFFF"/>
                </a:solidFill>
                <a:latin typeface="Space Grotesk"/>
              </a:rPr>
              <a:t>WIKI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958256"/>
            <a:ext cx="6442174" cy="1333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5" b="1" i="0">
                <a:solidFill>
                  <a:srgbClr val="FFFFFF"/>
                </a:solidFill>
                <a:latin typeface="Space Grotesk"/>
              </a:rPr>
              <a:t>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4331493"/>
            <a:ext cx="8552110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FCA5A5"/>
                </a:solidFill>
                <a:latin typeface="Space Grotesk"/>
              </a:rPr>
              <a:t>ระบบสมองกลางทีม Presale | Upload Note → AI สร้าง Wiki → ถามได้เลย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334000"/>
            <a:ext cx="3867150" cy="6191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275" y="5543550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9875" y="5543550"/>
            <a:ext cx="190500" cy="2000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62075" y="5531643"/>
            <a:ext cx="106397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DM Sans"/>
              </a:rPr>
              <a:t>Presale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1847" y="5531643"/>
            <a:ext cx="1219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DM Sans"/>
              </a:rPr>
              <a:t>Knowledge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184" y="6324600"/>
            <a:ext cx="1829990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DM Sans"/>
              </a:rPr>
              <a:t xml:space="preserve">BUILT BY </a:t>
            </a:r>
            <a:r>
              <a:rPr sz="1050" b="1" i="0">
                <a:solidFill>
                  <a:srgbClr val="FFFFFF"/>
                </a:solidFill>
                <a:latin typeface="DM Sans"/>
              </a:rPr>
              <a:t>MFEC Presale Team |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2847975"/>
            <a:ext cx="4876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99085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3686175"/>
            <a:ext cx="4876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82905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4524375"/>
            <a:ext cx="4876800" cy="685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466725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5362575"/>
            <a:ext cx="4876800" cy="685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550545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05600" y="769887"/>
            <a:ext cx="4676120" cy="1012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Space Grotesk"/>
              </a:rPr>
              <a:t>ปัญหาที่ทีม Presale เจอ</a:t>
            </a:r>
            <a:r>
              <a:rPr sz="3359" b="1" i="0">
                <a:solidFill>
                  <a:srgbClr val="3B82F6"/>
                </a:solidFill>
                <a:latin typeface="Space Grotesk"/>
              </a:rPr>
              <a:t>The Knowledge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2013198"/>
            <a:ext cx="4573369" cy="4753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E293B"/>
                </a:solidFill>
                <a:latin typeface="DM Sans"/>
              </a:rPr>
              <a:t>note ของทีมกระจัดกระจาย อยู่ใน PC ของใครของมัน</a:t>
            </a:r>
            <a:r>
              <a:rPr sz="1320" b="0" i="0">
                <a:solidFill>
                  <a:srgbClr val="1E293B"/>
                </a:solidFill>
                <a:latin typeface="DM Sans"/>
              </a:rPr>
              <a:t>ไม่มีที่รวมศูนย์ ค้นหาไม่เจอตอนจะใช้จริง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5060" y="2992487"/>
            <a:ext cx="4023568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DM Sans"/>
              </a:rPr>
              <a:t>ความรู้ติดอยู่กับตัวคน ไม่ได้ถ่ายทอด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>When key people leave, their knowledge walks out the door too.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5060" y="3830687"/>
            <a:ext cx="4362896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DM Sans"/>
              </a:rPr>
              <a:t>ถามเพื่อนร่วมทีมซ้ำๆ เรื่องเดิม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>No single source of truth for customer insights and objections.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5060" y="4668887"/>
            <a:ext cx="4210347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DM Sans"/>
              </a:rPr>
              <a:t>ไม่รู้ว่าใครรู้เรื่องอะไร ต้องโทรถามทีละคน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>Context is lost between deals, calls, and team handoffs.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5060" y="5507087"/>
            <a:ext cx="4243536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DM Sans"/>
              </a:rPr>
              <a:t>ระบบนี้แก้ทั้งหมดนั้น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>Upload once. AI builds the knowledge base. Ask anything.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72950" y="1371600"/>
            <a:ext cx="19050" cy="411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15700" y="5981700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52425"/>
            <a:ext cx="4155132" cy="542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1910"/>
            <a:ext cx="553953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DM Sans"/>
              </a:rPr>
              <a:t>4 Layer ที่ทำงานร่วมกัน | 4 Layers Working Together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400175"/>
            <a:ext cx="5305425" cy="5295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504950"/>
            <a:ext cx="5057775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1724025"/>
            <a:ext cx="238125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2457450"/>
            <a:ext cx="4600575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2600325"/>
            <a:ext cx="1143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3257550"/>
            <a:ext cx="4600575" cy="685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3400425"/>
            <a:ext cx="1714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4057650"/>
            <a:ext cx="4600575" cy="685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7300" y="4191000"/>
            <a:ext cx="1905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900" y="4857750"/>
            <a:ext cx="4600575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5000625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17587" y="1712565"/>
            <a:ext cx="2308770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3B82F6"/>
                </a:solidFill>
                <a:latin typeface="Space Grotesk"/>
              </a:rPr>
              <a:t>Client AI 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7834" y="2597943"/>
            <a:ext cx="3158579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Web UI รับ Upload / Ingest / Chat</a:t>
            </a:r>
            <a:r>
              <a:rPr sz="1200" b="1" i="0">
                <a:solidFill>
                  <a:srgbClr val="1E293B"/>
                </a:solidFill>
                <a:latin typeface="DM Sans"/>
              </a:rPr>
              <a:t>Web UI handles Upload, Ingest trigger, and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4984" y="3398043"/>
            <a:ext cx="3454896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FastAPI: /upload, /ingest/stream, /chat</a:t>
            </a:r>
            <a:r>
              <a:rPr sz="1200" b="1" i="0">
                <a:solidFill>
                  <a:srgbClr val="1E293B"/>
                </a:solidFill>
                <a:latin typeface="DM Sans"/>
              </a:rPr>
              <a:t>FastAPI endpoints handle all business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4034" y="4198143"/>
            <a:ext cx="3872805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OAuth AI token.json สำหรับ Google Drive</a:t>
            </a:r>
            <a:r>
              <a:rPr sz="1200" b="1" i="0">
                <a:solidFill>
                  <a:srgbClr val="1E293B"/>
                </a:solidFill>
                <a:latin typeface="DM Sans"/>
              </a:rPr>
              <a:t>One-time OAuth setup stores token.json for Drive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5934" y="4998243"/>
            <a:ext cx="359062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Deploy บน Render.com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1400175"/>
            <a:ext cx="5305425" cy="5295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7925" y="1504950"/>
            <a:ext cx="5057775" cy="762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525" y="1724025"/>
            <a:ext cx="209550" cy="2571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2457450"/>
            <a:ext cx="4600575" cy="685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2600325"/>
            <a:ext cx="1905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3257550"/>
            <a:ext cx="4600575" cy="685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38925" y="3400425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4057650"/>
            <a:ext cx="4600575" cy="685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8925" y="4200525"/>
            <a:ext cx="1333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4857750"/>
            <a:ext cx="4600575" cy="6858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38925" y="5000625"/>
            <a:ext cx="13335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67958" y="1712565"/>
            <a:ext cx="2641103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F97316"/>
                </a:solidFill>
                <a:latin typeface="Space Grotesk"/>
              </a:rPr>
              <a:t>LLM AI Storage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4675" y="2597943"/>
            <a:ext cx="4107358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LiteLLM Proxy → GPT-4.1-mini</a:t>
            </a:r>
            <a:r>
              <a:rPr sz="1200" b="1" i="0">
                <a:solidFill>
                  <a:srgbClr val="1E293B"/>
                </a:solidFill>
                <a:latin typeface="DM Sans"/>
              </a:rPr>
              <a:t>MFEC LiteLLM proxy routes to GPT-4.1-mini for all AI 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6575" y="3398043"/>
            <a:ext cx="3624560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Google Drive Vault (5 folders)</a:t>
            </a:r>
            <a:r>
              <a:rPr sz="1200" b="1" i="0">
                <a:solidFill>
                  <a:srgbClr val="1E293B"/>
                </a:solidFill>
                <a:latin typeface="DM Sans"/>
              </a:rPr>
              <a:t>inbox / raw / wiki / archive / _meta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6575" y="4198143"/>
            <a:ext cx="3751510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SCHEMA.md คือ instruction หลักให้ LLM</a:t>
            </a:r>
            <a:r>
              <a:rPr sz="1200" b="1" i="0">
                <a:solidFill>
                  <a:srgbClr val="1E293B"/>
                </a:solidFill>
                <a:latin typeface="DM Sans"/>
              </a:rPr>
              <a:t>SCHEMA.md defines wiki page types and format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6575" y="4998243"/>
            <a:ext cx="3624857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ensure_vault_structure() ตอน startup</a:t>
            </a:r>
            <a:r>
              <a:rPr sz="1200" b="1" i="0">
                <a:solidFill>
                  <a:srgbClr val="1E293B"/>
                </a:solidFill>
                <a:latin typeface="DM Sans"/>
              </a:rPr>
              <a:t>Auto-creates all folders and meta files on server start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3657600" cy="381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57850" y="3629025"/>
            <a:ext cx="876300" cy="876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48672" y="3918495"/>
            <a:ext cx="94505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Space Grotesk"/>
              </a:rPr>
              <a:t>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62075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876800" cy="57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-952500"/>
            <a:ext cx="3810000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085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66700"/>
            <a:ext cx="195857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DM Sans"/>
              </a:rPr>
              <a:t>INGEST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85775"/>
            <a:ext cx="5444876" cy="542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0" i="0">
                <a:solidFill>
                  <a:srgbClr val="1E293B"/>
                </a:solidFill>
                <a:latin typeface="Space Grotesk"/>
              </a:rPr>
              <a:t>จาก Note ถึง Wiki — ทีละขั้นตอน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857375"/>
            <a:ext cx="56102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1066800"/>
            <a:ext cx="5543550" cy="5924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6100" y="2085975"/>
            <a:ext cx="1619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1897558"/>
            <a:ext cx="234329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937"/>
                </a:solidFill>
                <a:latin typeface="DM Sans"/>
              </a:rPr>
              <a:t>กระบวนการหลัก | Core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3183" y="2084189"/>
            <a:ext cx="160659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3B82F6"/>
                </a:solidFill>
                <a:latin typeface="DM Sans"/>
              </a:rPr>
              <a:t>ขั้นตอน | STEPS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50" y="2371725"/>
            <a:ext cx="819150" cy="8191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2638425"/>
            <a:ext cx="2286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250" y="2505075"/>
            <a:ext cx="4943475" cy="781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8250" y="2535733"/>
            <a:ext cx="2054274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DM Sans"/>
              </a:rPr>
              <a:t>อ่านไฟล์ + Parse Author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2815679"/>
            <a:ext cx="4564231" cy="3443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DM Sans"/>
              </a:rPr>
              <a:t>read_file_by_id() ดึงเนื้อหาจาก Google Drive</a:t>
            </a:r>
            <a:r>
              <a:rPr sz="1080" b="0" i="0">
                <a:solidFill>
                  <a:srgbClr val="64748B"/>
                </a:solidFill>
                <a:latin typeface="DM Sans"/>
              </a:rPr>
              <a:t>parse_author_from_filename() แกะชื่อจาก YYYY-MM-DD_Author_Topic.txt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50" y="3324225"/>
            <a:ext cx="819150" cy="8191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3590925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250" y="3457575"/>
            <a:ext cx="4943475" cy="7810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8250" y="3485405"/>
            <a:ext cx="199295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DM Sans"/>
              </a:rPr>
              <a:t>บันทึก Raw + Frontmatter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3765351"/>
            <a:ext cx="4792235" cy="3443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DM Sans"/>
              </a:rPr>
              <a:t>เพิ่ม YAML frontmatter (author, date, tags)</a:t>
            </a:r>
            <a:r>
              <a:rPr sz="1080" b="0" i="0">
                <a:solidFill>
                  <a:srgbClr val="64748B"/>
                </a:solidFill>
                <a:latin typeface="DM Sans"/>
              </a:rPr>
              <a:t>write_file() บันทึกลง raw/ — เป็น source of truth ต้นฉบับ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50" y="4267200"/>
            <a:ext cx="819150" cy="8191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425" y="4533900"/>
            <a:ext cx="16192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250" y="4400550"/>
            <a:ext cx="4943475" cy="781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38250" y="4435078"/>
            <a:ext cx="171717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DM Sans"/>
              </a:rPr>
              <a:t>LLM Selector — เลือก Wiki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4715023"/>
            <a:ext cx="4982587" cy="3443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DM Sans"/>
              </a:rPr>
              <a:t>อ่าน index.md → LLM เลือก pages ที่เกี่ยวข้อง (max 8)</a:t>
            </a:r>
            <a:r>
              <a:rPr sz="1080" b="0" i="0">
                <a:solidFill>
                  <a:srgbClr val="64748B"/>
                </a:solidFill>
                <a:latin typeface="DM Sans"/>
              </a:rPr>
              <a:t>ตอบเป็น JSON array เช่น [“customer-scb.md”, “topic-crm.md”]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50" y="5219700"/>
            <a:ext cx="819150" cy="8191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375" y="5486400"/>
            <a:ext cx="190500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8250" y="5384750"/>
            <a:ext cx="201170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DM Sans"/>
              </a:rPr>
              <a:t>LLM วิเคราะห์ + เขียน Wiki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50" y="5664696"/>
            <a:ext cx="4464367" cy="3443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DM Sans"/>
              </a:rPr>
              <a:t>รับ SCHEMA.md + index + existing pages + note content</a:t>
            </a:r>
            <a:r>
              <a:rPr sz="1080" b="0" i="0">
                <a:solidFill>
                  <a:srgbClr val="64748B"/>
                </a:solidFill>
                <a:latin typeface="DM Sans"/>
              </a:rPr>
              <a:t>สร้าง 3-8 wiki pages พร้อม [[wikilinks]] cross-reference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34675" y="2457450"/>
            <a:ext cx="647700" cy="2000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4250" y="2714625"/>
            <a:ext cx="4057650" cy="5810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77125" y="3057525"/>
            <a:ext cx="142875" cy="1333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33208" y="2459384"/>
            <a:ext cx="44038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Upload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8642" y="2497484"/>
            <a:ext cx="49753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3B82F6"/>
                </a:solidFill>
                <a:latin typeface="DM Sans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6083" y="2802284"/>
            <a:ext cx="3041838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2937"/>
                </a:solidFill>
                <a:latin typeface="DM Sans"/>
              </a:rPr>
              <a:t>User:</a:t>
            </a:r>
            <a:r>
              <a:rPr sz="960" b="0" i="0">
                <a:solidFill>
                  <a:srgbClr val="64748B"/>
                </a:solidFill>
                <a:latin typeface="DM Sans"/>
              </a:rPr>
              <a:t xml:space="preserve"> Upload uv and notebooklm-mcp-server package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5335" y="3058566"/>
            <a:ext cx="204817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4748B"/>
                </a:solidFill>
                <a:latin typeface="ui-monospace"/>
              </a:rPr>
              <a:t>POST /upload → prepend author → inbox/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29450" y="2657475"/>
            <a:ext cx="19050" cy="8667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34675" y="3514725"/>
            <a:ext cx="647700" cy="2000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34250" y="3771900"/>
            <a:ext cx="4057650" cy="7429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77125" y="4276725"/>
            <a:ext cx="123825" cy="1428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333208" y="3514873"/>
            <a:ext cx="71958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Ingest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08642" y="3552973"/>
            <a:ext cx="49753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3B82F6"/>
                </a:solidFill>
                <a:latin typeface="DM Sans"/>
              </a:rPr>
              <a:t>Step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6083" y="3857773"/>
            <a:ext cx="3459896" cy="313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2937"/>
                </a:solidFill>
                <a:latin typeface="DM Sans"/>
              </a:rPr>
              <a:t>User:</a:t>
            </a:r>
            <a:r>
              <a:rPr sz="960" b="0" i="0">
                <a:solidFill>
                  <a:srgbClr val="64748B"/>
                </a:solidFill>
                <a:latin typeface="DM Sans"/>
              </a:rPr>
              <a:t xml:space="preserve"> กด Ingest → GET /ingest/stream → process_inbox()</a:t>
            </a:r>
            <a:r>
              <a:rPr sz="960" b="0" i="0">
                <a:solidFill>
                  <a:srgbClr val="64748B"/>
                </a:solidFill>
                <a:latin typeface="DM Sans"/>
              </a:rPr>
              <a:t xml:space="preserve"> LLM เขียน wiki/ + อัปเดต _meta/ → archive inbox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6073" y="4275087"/>
            <a:ext cx="140940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4748B"/>
                </a:solidFill>
                <a:latin typeface="DM Sans"/>
              </a:rPr>
              <a:t xml:space="preserve"> Ingest API credentials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9450" y="3714750"/>
            <a:ext cx="19050" cy="10287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15650" y="4724400"/>
            <a:ext cx="476250" cy="2000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34250" y="4981575"/>
            <a:ext cx="4057650" cy="7429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67600" y="5486400"/>
            <a:ext cx="171450" cy="14287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333208" y="4731394"/>
            <a:ext cx="440531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Done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86194" y="4769494"/>
            <a:ext cx="319980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3B82F6"/>
                </a:solidFill>
                <a:latin typeface="DM Sans"/>
              </a:rPr>
              <a:t>Step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6083" y="5074294"/>
            <a:ext cx="3746539" cy="313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2937"/>
                </a:solidFill>
                <a:latin typeface="DM Sans"/>
              </a:rPr>
              <a:t>User:</a:t>
            </a:r>
            <a:r>
              <a:rPr sz="960" b="0" i="0">
                <a:solidFill>
                  <a:srgbClr val="64748B"/>
                </a:solidFill>
                <a:latin typeface="DM Sans"/>
              </a:rPr>
              <a:t xml:space="preserve"> Start querying LLM เขียน wiki/ + อัปเดต _meta/ → archive inbox libraries directly through Claude</a:t>
            </a:r>
            <a:r>
              <a:rPr sz="960" b="0" i="0">
                <a:solidFill>
                  <a:srgbClr val="64748B"/>
                </a:solidFill>
                <a:latin typeface="DM Sans"/>
              </a:rPr>
              <a:t xml:space="preserve"> ค้นหาและถามตอบผ่าน Chat UI ได้ทันที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66583" y="5491608"/>
            <a:ext cx="186362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4748B"/>
                </a:solidFill>
                <a:latin typeface="DM Sans"/>
              </a:rPr>
              <a:t xml:space="preserve"> index.md และ log.md อัปเดตอัตโนมัติ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96100" y="2428875"/>
            <a:ext cx="285750" cy="28575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06083" y="2507009"/>
            <a:ext cx="63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DM Sans"/>
              </a:rPr>
              <a:t>1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96100" y="3486150"/>
            <a:ext cx="285750" cy="28575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06083" y="3562498"/>
            <a:ext cx="63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DM Sans"/>
              </a:rPr>
              <a:t>2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96100" y="4695825"/>
            <a:ext cx="285750" cy="28575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06083" y="4779019"/>
            <a:ext cx="636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DM Sans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1095375"/>
            <a:ext cx="5143500" cy="2781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25" y="1476375"/>
            <a:ext cx="1047750" cy="1047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1819275"/>
            <a:ext cx="23812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1095375"/>
            <a:ext cx="5143500" cy="2781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625" y="1476375"/>
            <a:ext cx="1047750" cy="1047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" y="3686175"/>
            <a:ext cx="5143500" cy="3000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5625" y="4067175"/>
            <a:ext cx="1047750" cy="1047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8050" y="4410075"/>
            <a:ext cx="35242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3686175"/>
            <a:ext cx="5143500" cy="30003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5" y="4067175"/>
            <a:ext cx="1047750" cy="1047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9150" y="4410075"/>
            <a:ext cx="266700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304800"/>
            <a:ext cx="5162996" cy="542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Space Grotesk"/>
              </a:rPr>
              <a:t>Chat / Query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9833" y="2452687"/>
            <a:ext cx="1799332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1E293B"/>
                </a:solidFill>
                <a:latin typeface="Space Grotesk"/>
              </a:rPr>
              <a:t>1. รับคำถาม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3653" y="2452687"/>
            <a:ext cx="1537692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1E293B"/>
                </a:solidFill>
                <a:latin typeface="Space Grotesk"/>
              </a:rPr>
              <a:t>2. เลือก Wiki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3738" y="5041403"/>
            <a:ext cx="1711523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1E293B"/>
                </a:solidFill>
                <a:latin typeface="Space Grotesk"/>
              </a:rPr>
              <a:t>3. LLM สร้างคำตอบ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0680" y="5041403"/>
            <a:ext cx="1963489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1E293B"/>
                </a:solidFill>
                <a:latin typeface="Space Grotesk"/>
              </a:rPr>
              <a:t>4. ส่งคำตอบกลับ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7831" y="2824162"/>
            <a:ext cx="3915727" cy="3790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POST /chat รับ {question, author_filter?}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User sends question with optional author filter to narrow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6366" y="2824162"/>
            <a:ext cx="3924508" cy="3790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LLM อ่าน index.md → เลือก pages ที่เกี่ยวข้อง (max 5)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Selector LLM picks relevant wiki filenames as JSON array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7945" y="5412878"/>
            <a:ext cx="3995499" cy="3790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โหลด wiki pages จาก Drive → concat เป็น context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ตอบ strictly จาก wiki — อ้างอิง page + author เสมอ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6664" y="5412878"/>
            <a:ext cx="3924061" cy="596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Response: {answer, sources[], pages_considered[]}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Returns answer with full citation of source wiki pages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and contributing authors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0" y="0"/>
            <a:ext cx="36576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3790950"/>
            <a:ext cx="1428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6075" y="4400550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501015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600" y="5619750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05600" y="857250"/>
            <a:ext cx="4505563" cy="11828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Space Grotesk"/>
              </a:rPr>
              <a:t>Google Drive Vault</a:t>
            </a:r>
            <a:r>
              <a:rPr sz="3359" b="1" i="0">
                <a:solidFill>
                  <a:srgbClr val="3B82F6"/>
                </a:solidFill>
                <a:latin typeface="Space Grotesk"/>
              </a:rPr>
              <a:t>— Storage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356246"/>
            <a:ext cx="4868346" cy="10450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E293B"/>
                </a:solidFill>
                <a:latin typeface="DM Sans"/>
              </a:rPr>
              <a:t xml:space="preserve">5 folders สร้างอัตโนมัติตอน startup </a:t>
            </a:r>
            <a:r>
              <a:rPr sz="1320" b="1" i="0">
                <a:solidFill>
                  <a:srgbClr val="F97316"/>
                </a:solidFill>
                <a:latin typeface="DM Sans"/>
              </a:rPr>
              <a:t>ผ่าน ensure_vault_structure()</a:t>
            </a:r>
            <a:r>
              <a:rPr sz="1320" b="1" i="0">
                <a:solidFill>
                  <a:srgbClr val="F97316"/>
                </a:solidFill>
                <a:latin typeface="DM Sans"/>
              </a:rPr>
              <a:t xml:space="preserve"> </a:t>
            </a:r>
            <a:r>
              <a:rPr sz="1320" b="0" i="0">
                <a:solidFill>
                  <a:srgbClr val="1E293B"/>
                </a:solidFill>
                <a:latin typeface="DM Sans"/>
              </a:rPr>
              <a:t>Each folder has a distinct role in the pipeline.</a:t>
            </a:r>
            <a:r>
              <a:rPr sz="1320" b="0" i="0">
                <a:solidFill>
                  <a:srgbClr val="1E293B"/>
                </a:solidFill>
                <a:latin typeface="DM Sans"/>
              </a:rPr>
              <a:t>ไม่ต้องสร้างเอง — ระบบจัดการให้ทั้งหมด</a:t>
            </a:r>
            <a:r>
              <a:rPr sz="1320" b="0" i="0">
                <a:solidFill>
                  <a:srgbClr val="1E293B"/>
                </a:solidFill>
                <a:latin typeface="DM Sans"/>
              </a:rPr>
              <a:t xml:space="preserve"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6970" y="3790950"/>
            <a:ext cx="4701182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inbox/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 xml:space="preserve"> ไฟล์รอ ingest — drop หรืออัปผ่าน UI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 xml:space="preserve"> Files waiting to be processed, moved to archive after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5580" y="4400550"/>
            <a:ext cx="4337149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raw/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 xml:space="preserve"> note ต้นฉบับ + YAML frontmatter (author, date, tags)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 xml:space="preserve"> Immutable source of truth, never modified after writing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2660" y="5010150"/>
            <a:ext cx="4523333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wiki/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 xml:space="preserve"> LLM-generated knowledge pages — customer, topic, person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 xml:space="preserve"> Pages are updated/merged each time a related note is ingested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2660" y="5619750"/>
            <a:ext cx="4605635" cy="3905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DM Sans"/>
              </a:rPr>
              <a:t>_meta/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 xml:space="preserve"> index.md (catalog) + log.md (history) + SCHEMA.md (LLM rules)</a:t>
            </a:r>
            <a:r>
              <a:rPr sz="1200" b="0" i="0">
                <a:solidFill>
                  <a:srgbClr val="1E293B"/>
                </a:solidFill>
                <a:latin typeface="DM Sans"/>
              </a:rPr>
              <a:t xml:space="preserve"> archive/ — ไฟล์ที่ ingest แล้ว เก็บเป็น history ไม่ลบ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0"/>
            <a:ext cx="38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876800" cy="38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0" y="6819900"/>
            <a:ext cx="4267200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285750"/>
            <a:ext cx="11620500" cy="6286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51732" y="1739800"/>
            <a:ext cx="8448407" cy="16574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1">
                <a:solidFill>
                  <a:srgbClr val="1E293B"/>
                </a:solidFill>
                <a:latin typeface="Space Grotesk"/>
              </a:rPr>
              <a:t>“ก่อนหน้านี้ต้องไล่หา note ทีละไฟล์เลย</a:t>
            </a:r>
            <a:r>
              <a:rPr sz="2520" b="1" i="1">
                <a:solidFill>
                  <a:srgbClr val="3B82F6"/>
                </a:solidFill>
                <a:latin typeface="Space Grotesk"/>
              </a:rPr>
              <a:t>ตอนนี้แค่พิมพ์ถาม</a:t>
            </a:r>
            <a:r>
              <a:rPr sz="2520" b="1" i="1">
                <a:solidFill>
                  <a:srgbClr val="3B82F6"/>
                </a:solidFill>
                <a:latin typeface="Space Grotesk"/>
              </a:rPr>
              <a:t>ระบบบอกได้เลยว่า</a:t>
            </a:r>
            <a:r>
              <a:rPr sz="2520" b="0" i="1">
                <a:solidFill>
                  <a:srgbClr val="1E293B"/>
                </a:solidFill>
                <a:latin typeface="Space Grotesk"/>
              </a:rPr>
              <a:t>ลูกค้าคนนี้มี pain point อะไร</a:t>
            </a:r>
            <a:r>
              <a:rPr sz="2520" b="0" i="1">
                <a:solidFill>
                  <a:srgbClr val="1E293B"/>
                </a:solidFill>
                <a:latin typeface="Space Grotesk"/>
              </a:rPr>
              <a:t>และใครในทีมรู้เรื่องนี้บ้าง”</a:t>
            </a:r>
            <a:r>
              <a:rPr sz="2520" b="0" i="1">
                <a:solidFill>
                  <a:srgbClr val="1E293B"/>
                </a:solidFill>
                <a:latin typeface="Space Grotesk"/>
              </a:rPr>
              <a:t>— ทีม Presale, MFEC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8914" y="861714"/>
            <a:ext cx="5274022" cy="542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Space Grotesk"/>
              </a:rPr>
              <a:t>วิธีใช้งาน | How to Use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5575" y="1133475"/>
            <a:ext cx="571500" cy="9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925" y="1133475"/>
            <a:ext cx="571500" cy="9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500" y="4067175"/>
            <a:ext cx="9525000" cy="19716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87810" y="5089624"/>
            <a:ext cx="866328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pace Grotesk"/>
              </a:rPr>
              <a:t>ตั้งชื่อไฟล์ให้ถูก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6050" y="4457700"/>
            <a:ext cx="476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0350" y="4572000"/>
            <a:ext cx="24765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23305" y="5432524"/>
            <a:ext cx="2061864" cy="5694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DM Sans"/>
              </a:rPr>
              <a:t>YYYY-MM-DD_ชื่อ_หัวข้อ.txt</a:t>
            </a:r>
            <a:r>
              <a:rPr sz="1050" b="0" i="0">
                <a:solidFill>
                  <a:srgbClr val="1E293B"/>
                </a:solidFill>
                <a:latin typeface="DM Sans"/>
              </a:rPr>
              <a:t>เช่น 2025-05-06_สมชาย_demo-pttep.txt</a:t>
            </a:r>
            <a:r>
              <a:rPr sz="1050" b="0" i="0">
                <a:solidFill>
                  <a:srgbClr val="1E293B"/>
                </a:solidFill>
                <a:latin typeface="DM Sans"/>
              </a:rPr>
              <a:t>ระบบ parse author อัตโนมัติจากชื่อไฟล์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4619625"/>
            <a:ext cx="9525" cy="1266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86821" y="5089624"/>
            <a:ext cx="1618059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pace Grotesk"/>
              </a:rPr>
              <a:t>อัปโหลดหรือ Drop file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7875" y="4457700"/>
            <a:ext cx="476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1700" y="4581525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94225" y="5432524"/>
            <a:ext cx="2269926" cy="5694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DM Sans"/>
              </a:rPr>
              <a:t>ผ่าน Web UI (ระบุ author) หรือ</a:t>
            </a:r>
            <a:r>
              <a:rPr sz="1050" b="0" i="0">
                <a:solidFill>
                  <a:srgbClr val="1E293B"/>
                </a:solidFill>
                <a:latin typeface="DM Sans"/>
              </a:rPr>
              <a:t>วางตรงใน Google Drive inbox/ folder</a:t>
            </a:r>
            <a:r>
              <a:rPr sz="1050" b="0" i="0">
                <a:solidFill>
                  <a:srgbClr val="1E293B"/>
                </a:solidFill>
                <a:latin typeface="DM Sans"/>
              </a:rPr>
              <a:t>ทั้งสองวิธีเข้าสู่ระบบเหมือนกัน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7625" y="4619625"/>
            <a:ext cx="9525" cy="1266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69238" y="5089624"/>
            <a:ext cx="1203275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pace Grotesk"/>
              </a:rPr>
              <a:t>กด Ingest และถามได้เลย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9225" y="4457700"/>
            <a:ext cx="476250" cy="476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3050" y="4581525"/>
            <a:ext cx="228600" cy="2381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02649" y="5432524"/>
            <a:ext cx="2402978" cy="5694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DM Sans"/>
              </a:rPr>
              <a:t>กด Ingest → ดู real-time log →</a:t>
            </a:r>
            <a:r>
              <a:rPr sz="1050" b="0" i="0">
                <a:solidFill>
                  <a:srgbClr val="1E293B"/>
                </a:solidFill>
                <a:latin typeface="DM Sans"/>
              </a:rPr>
              <a:t>wiki พร้อมแล้ว → พิมพ์ถามใน Chat</a:t>
            </a:r>
            <a:r>
              <a:rPr sz="1050" b="0" i="0">
                <a:solidFill>
                  <a:srgbClr val="1E293B"/>
                </a:solidFill>
                <a:latin typeface="DM Sans"/>
              </a:rPr>
              <a:t>กรอง author_filter เพื่อดูข้อมูลจากคนใดคนหนึ่งโดยเฉพาะ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0536" y="6219825"/>
            <a:ext cx="265092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293B"/>
                </a:solidFill>
                <a:latin typeface="Space Grotesk"/>
              </a:rPr>
              <a:t xml:space="preserve">PRESALE WIKI </a:t>
            </a:r>
            <a:r>
              <a:rPr sz="900" b="0" i="0">
                <a:solidFill>
                  <a:srgbClr val="1E293B"/>
                </a:solidFill>
                <a:latin typeface="Microsoft YaHei"/>
              </a:rPr>
              <a:t xml:space="preserve">• </a:t>
            </a:r>
            <a:r>
              <a:rPr sz="900" b="0" i="0">
                <a:solidFill>
                  <a:srgbClr val="1E293B"/>
                </a:solidFill>
                <a:latin typeface="Space Grotesk"/>
              </a:rPr>
              <a:t>KNOWLEDGE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668250" cy="762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-476250"/>
            <a:ext cx="190500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62000" y="5238750"/>
            <a:ext cx="2381250" cy="2381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0"/>
            <a:ext cx="4876800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00" y="6819900"/>
            <a:ext cx="4267200" cy="38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27710" y="304800"/>
            <a:ext cx="4536578" cy="542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Space Grotesk"/>
              </a:rPr>
              <a:t>Future Work — สิ่งที่ต่อยอดต่อไป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0" y="1066800"/>
            <a:ext cx="3714750" cy="2924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0" y="1447800"/>
            <a:ext cx="1047750" cy="1047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0525" y="1790700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1066800"/>
            <a:ext cx="3714750" cy="2924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0" y="1447800"/>
            <a:ext cx="1047750" cy="1047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6200" y="1790700"/>
            <a:ext cx="33337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0" y="3800475"/>
            <a:ext cx="3714750" cy="2924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0" y="4181475"/>
            <a:ext cx="1047750" cy="1047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0" y="4524375"/>
            <a:ext cx="285750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3800475"/>
            <a:ext cx="3714750" cy="29241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4250" y="4181475"/>
            <a:ext cx="1047750" cy="1047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4775" y="4524375"/>
            <a:ext cx="266700" cy="2762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07469" y="2387500"/>
            <a:ext cx="1052661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3B82F6"/>
                </a:solidFill>
                <a:latin typeface="Space Grotesk"/>
              </a:rPr>
              <a:t>Schedule Auto-Ingest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3151" y="2387500"/>
            <a:ext cx="1949946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3B82F6"/>
                </a:solidFill>
                <a:latin typeface="Space Grotesk"/>
              </a:rPr>
              <a:t>Deploy บน Server 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5174" y="5119687"/>
            <a:ext cx="1117252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3B82F6"/>
                </a:solidFill>
                <a:latin typeface="Space Grotesk"/>
              </a:rPr>
              <a:t>Multi-Language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5130" y="5119687"/>
            <a:ext cx="1245989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3B82F6"/>
                </a:solidFill>
                <a:latin typeface="Space Grotesk"/>
              </a:rPr>
              <a:t>Search &amp;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7496" y="2758975"/>
            <a:ext cx="2605147" cy="5673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ตั้ง cron job หรือ Cloud Scheduler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ให้ระบบ process inbox อัตโนมัติทุกคืน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ไม่ต้องรอกด Ingest เองทุกครั้ง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5616" y="2758975"/>
            <a:ext cx="2597407" cy="5673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ย้ายจาก Render ไป Production server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เพิ่ม authentication สำหรับทีม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รองรับ HTTPS + domain จริง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0010" y="5491162"/>
            <a:ext cx="2380118" cy="5673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รองรับ note ภาษาอังกฤษและภาษาไทย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LLM วิเคราะห์และสังเคราะห์ได้ทั้งสองภาษา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wiki pages ออกมาเป็นภาษาที่เหมาะสม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1448" y="5491162"/>
            <a:ext cx="2605593" cy="5673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Full-text search ข้าม wiki pages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Dashboard แสดง note stats, active customers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และ trending topics ในทีม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1095375"/>
            <a:ext cx="5143500" cy="2781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625" y="1476375"/>
            <a:ext cx="1047750" cy="1047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1819275"/>
            <a:ext cx="23812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1095375"/>
            <a:ext cx="5143500" cy="2781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625" y="1476375"/>
            <a:ext cx="1047750" cy="1047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" y="3686175"/>
            <a:ext cx="5143500" cy="3000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5625" y="4067175"/>
            <a:ext cx="1047750" cy="1047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8050" y="4410075"/>
            <a:ext cx="35242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3686175"/>
            <a:ext cx="5143500" cy="30003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5" y="4067175"/>
            <a:ext cx="1047750" cy="1047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9150" y="4410075"/>
            <a:ext cx="266700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304800"/>
            <a:ext cx="5162996" cy="542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Space Grotesk"/>
              </a:rPr>
              <a:t>ประเภท Wiki Pages | Wiki Page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9833" y="2452687"/>
            <a:ext cx="1799332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1E293B"/>
                </a:solidFill>
                <a:latin typeface="Space Grotesk"/>
              </a:rPr>
              <a:t>Customer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3653" y="2452687"/>
            <a:ext cx="1537692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1E293B"/>
                </a:solidFill>
                <a:latin typeface="Space Grotesk"/>
              </a:rPr>
              <a:t>Topic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3738" y="5041403"/>
            <a:ext cx="1711523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1E293B"/>
                </a:solidFill>
                <a:latin typeface="Space Grotesk"/>
              </a:rPr>
              <a:t>Person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0680" y="5041403"/>
            <a:ext cx="1963489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1E293B"/>
                </a:solidFill>
                <a:latin typeface="Space Grotesk"/>
              </a:rPr>
              <a:t>Comparison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7831" y="2824162"/>
            <a:ext cx="3915727" cy="3790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customer-[ชื่อ].md — ข้อมูลลูกค้า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ความต้องการ, pain points, objections, demo history, budget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6366" y="2824162"/>
            <a:ext cx="3924508" cy="3790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topic-[หัวข้อ].md — ความรู้สังเคราะห์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pricing strategy, integration patterns, best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7945" y="5412878"/>
            <a:ext cx="3995499" cy="3790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person-[ชื่อ].md — stakeholder profile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บทบาท, preferences, ประวัติ, วิธีการ engage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6664" y="5412878"/>
            <a:ext cx="3924061" cy="596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DM Sans"/>
              </a:rPr>
              <a:t>compare-[A]-vs-[B].md — เปรียบเทียบ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solution, vendor, หรือ approach แบบ side-by-side</a:t>
            </a:r>
            <a:r>
              <a:rPr sz="1139" b="0" i="0">
                <a:solidFill>
                  <a:srgbClr val="1E293B"/>
                </a:solidFill>
                <a:latin typeface="DM Sans"/>
              </a:rPr>
              <a:t>ทุก page มี [[wikilinks]] cross-reference ถึงกัน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0" y="0"/>
            <a:ext cx="36576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